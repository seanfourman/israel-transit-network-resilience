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סוג קו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057"/>
              </a:solidFill>
              <a:effectLst/>
            </c:spPr>
          </c:dPt>
          <c:dPt>
            <c:idx val="1"/>
            <c:bubble3D val="0"/>
            <c:spPr>
              <a:solidFill>
                <a:srgbClr val="008891"/>
              </a:solidFill>
              <a:effectLst/>
            </c:spPr>
          </c:dPt>
          <c:dPt>
            <c:idx val="2"/>
            <c:bubble3D val="0"/>
            <c:spPr>
              <a:solidFill>
                <a:srgbClr val="E97A47"/>
              </a:solidFill>
              <a:effectLst/>
            </c:spPr>
          </c:dPt>
          <c:dPt>
            <c:idx val="3"/>
            <c:bubble3D val="0"/>
            <c:spPr>
              <a:solidFill>
                <a:srgbClr val="B8C5D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אוטובוס</c:v>
                </c:pt>
                <c:pt idx="1">
                  <c:v>רכבת כבדה</c:v>
                </c:pt>
                <c:pt idx="2">
                  <c:v>רכבת קלה</c:v>
                </c:pt>
                <c:pt idx="3">
                  <c:v>רכבל ואחר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7505</c:v>
                </c:pt>
                <c:pt idx="1">
                  <c:v>187</c:v>
                </c:pt>
                <c:pt idx="2">
                  <c:v>92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05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3057"/>
                </a:solidFill>
                <a:latin typeface="Calibri"/>
              </a:rPr>
              <a:t>% מהרכיב הקשיר הגדול לפי כמות הסרות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Articulation</c:v>
                </c:pt>
              </c:strCache>
            </c:strRef>
          </c:tx>
          <c:spPr>
            <a:solidFill>
              <a:srgbClr val="E97A47"/>
            </a:solidFill>
            <a:ln w="25400" cap="flat">
              <a:solidFill>
                <a:srgbClr val="E97A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7A47"/>
              </a:solidFill>
              <a:ln w="9525" cap="flat">
                <a:solidFill>
                  <a:srgbClr val="E97A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  <c:pt idx="7">
                    <c:v>350</c:v>
                  </c:pt>
                  <c:pt idx="8">
                    <c:v>400</c:v>
                  </c:pt>
                  <c:pt idx="9">
                    <c:v>450</c:v>
                  </c:pt>
                  <c:pt idx="10">
                    <c:v>500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99.25</c:v>
                </c:pt>
                <c:pt idx="1">
                  <c:v>98.3</c:v>
                </c:pt>
                <c:pt idx="2">
                  <c:v>97.4</c:v>
                </c:pt>
                <c:pt idx="3">
                  <c:v>96.5</c:v>
                </c:pt>
                <c:pt idx="4">
                  <c:v>95.8</c:v>
                </c:pt>
                <c:pt idx="5">
                  <c:v>95.2</c:v>
                </c:pt>
                <c:pt idx="6">
                  <c:v>94.7</c:v>
                </c:pt>
                <c:pt idx="7">
                  <c:v>94.3</c:v>
                </c:pt>
                <c:pt idx="8">
                  <c:v>94</c:v>
                </c:pt>
                <c:pt idx="9">
                  <c:v>93.8</c:v>
                </c:pt>
                <c:pt idx="10">
                  <c:v>93.64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Degree</c:v>
                </c:pt>
              </c:strCache>
            </c:strRef>
          </c:tx>
          <c:spPr>
            <a:solidFill>
              <a:srgbClr val="008891"/>
            </a:solidFill>
            <a:ln w="25400" cap="flat">
              <a:solidFill>
                <a:srgbClr val="0088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891"/>
              </a:solidFill>
              <a:ln w="9525" cap="flat">
                <a:solidFill>
                  <a:srgbClr val="0088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  <c:pt idx="7">
                    <c:v>350</c:v>
                  </c:pt>
                  <c:pt idx="8">
                    <c:v>400</c:v>
                  </c:pt>
                  <c:pt idx="9">
                    <c:v>450</c:v>
                  </c:pt>
                  <c:pt idx="10">
                    <c:v>500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99.25</c:v>
                </c:pt>
                <c:pt idx="1">
                  <c:v>98.8</c:v>
                </c:pt>
                <c:pt idx="2">
                  <c:v>98.3</c:v>
                </c:pt>
                <c:pt idx="3">
                  <c:v>97.85</c:v>
                </c:pt>
                <c:pt idx="4">
                  <c:v>97.45</c:v>
                </c:pt>
                <c:pt idx="5">
                  <c:v>97.15</c:v>
                </c:pt>
                <c:pt idx="6">
                  <c:v>96.9</c:v>
                </c:pt>
                <c:pt idx="7">
                  <c:v>96.7</c:v>
                </c:pt>
                <c:pt idx="8">
                  <c:v>96.55</c:v>
                </c:pt>
                <c:pt idx="9">
                  <c:v>96.45</c:v>
                </c:pt>
                <c:pt idx="10">
                  <c:v>96.36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PageRank</c:v>
                </c:pt>
              </c:strCache>
            </c:strRef>
          </c:tx>
          <c:spPr>
            <a:solidFill>
              <a:srgbClr val="8A8FA3"/>
            </a:solidFill>
            <a:ln w="25400" cap="flat">
              <a:solidFill>
                <a:srgbClr val="8A8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FA3"/>
              </a:solidFill>
              <a:ln w="9525" cap="flat">
                <a:solidFill>
                  <a:srgbClr val="8A8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  <c:pt idx="7">
                    <c:v>350</c:v>
                  </c:pt>
                  <c:pt idx="8">
                    <c:v>400</c:v>
                  </c:pt>
                  <c:pt idx="9">
                    <c:v>450</c:v>
                  </c:pt>
                  <c:pt idx="10">
                    <c:v>500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99.25</c:v>
                </c:pt>
                <c:pt idx="1">
                  <c:v>98.9</c:v>
                </c:pt>
                <c:pt idx="2">
                  <c:v>98.55</c:v>
                </c:pt>
                <c:pt idx="3">
                  <c:v>98.2</c:v>
                </c:pt>
                <c:pt idx="4">
                  <c:v>97.9</c:v>
                </c:pt>
                <c:pt idx="5">
                  <c:v>97.6</c:v>
                </c:pt>
                <c:pt idx="6">
                  <c:v>97.35</c:v>
                </c:pt>
                <c:pt idx="7">
                  <c:v>97.15</c:v>
                </c:pt>
                <c:pt idx="8">
                  <c:v>97</c:v>
                </c:pt>
                <c:pt idx="9">
                  <c:v>96.92</c:v>
                </c:pt>
                <c:pt idx="10">
                  <c:v>96.89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Betweenness</c:v>
                </c:pt>
              </c:strCache>
            </c:strRef>
          </c:tx>
          <c:spPr>
            <a:solidFill>
              <a:srgbClr val="0F3057"/>
            </a:solidFill>
            <a:ln w="25400" cap="flat">
              <a:solidFill>
                <a:srgbClr val="0F30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3057"/>
              </a:solidFill>
              <a:ln w="9525" cap="flat">
                <a:solidFill>
                  <a:srgbClr val="0F30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  <c:pt idx="7">
                    <c:v>350</c:v>
                  </c:pt>
                  <c:pt idx="8">
                    <c:v>400</c:v>
                  </c:pt>
                  <c:pt idx="9">
                    <c:v>450</c:v>
                  </c:pt>
                  <c:pt idx="10">
                    <c:v>500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99.25</c:v>
                </c:pt>
                <c:pt idx="1">
                  <c:v>98.95</c:v>
                </c:pt>
                <c:pt idx="2">
                  <c:v>98.7</c:v>
                </c:pt>
                <c:pt idx="3">
                  <c:v>98.4</c:v>
                </c:pt>
                <c:pt idx="4">
                  <c:v>98.1</c:v>
                </c:pt>
                <c:pt idx="5">
                  <c:v>97.85</c:v>
                </c:pt>
                <c:pt idx="6">
                  <c:v>97.6</c:v>
                </c:pt>
                <c:pt idx="7">
                  <c:v>97.4</c:v>
                </c:pt>
                <c:pt idx="8">
                  <c:v>97.3</c:v>
                </c:pt>
                <c:pt idx="9">
                  <c:v>97.25</c:v>
                </c:pt>
                <c:pt idx="10">
                  <c:v>97.24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B8C5D1"/>
            </a:solidFill>
            <a:ln w="25400" cap="flat">
              <a:solidFill>
                <a:srgbClr val="B8C5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C5D1"/>
              </a:solidFill>
              <a:ln w="9525" cap="flat">
                <a:solidFill>
                  <a:srgbClr val="B8C5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  <c:pt idx="7">
                    <c:v>350</c:v>
                  </c:pt>
                  <c:pt idx="8">
                    <c:v>400</c:v>
                  </c:pt>
                  <c:pt idx="9">
                    <c:v>450</c:v>
                  </c:pt>
                  <c:pt idx="10">
                    <c:v>500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99.25</c:v>
                </c:pt>
                <c:pt idx="1">
                  <c:v>99.1</c:v>
                </c:pt>
                <c:pt idx="2">
                  <c:v>98.95</c:v>
                </c:pt>
                <c:pt idx="3">
                  <c:v>98.8</c:v>
                </c:pt>
                <c:pt idx="4">
                  <c:v>98.3</c:v>
                </c:pt>
                <c:pt idx="5">
                  <c:v>98</c:v>
                </c:pt>
                <c:pt idx="6">
                  <c:v>97.75</c:v>
                </c:pt>
                <c:pt idx="7">
                  <c:v>97.55</c:v>
                </c:pt>
                <c:pt idx="8">
                  <c:v>97.42</c:v>
                </c:pt>
                <c:pt idx="9">
                  <c:v>97.36</c:v>
                </c:pt>
                <c:pt idx="10">
                  <c:v>97.32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7A"/>
                    </a:solidFill>
                    <a:latin typeface="Arial"/>
                  </a:rPr>
                  <a:t>תחנות שהוסרו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3"/>
        </c:scaling>
        <c:delete val="0"/>
        <c:axPos val="l"/>
        <c:majorGridlines>
          <c:spPr>
            <a:ln w="6350" cap="flat">
              <a:solidFill>
                <a:srgbClr val="D8DE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7A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D4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64008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109728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82880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28016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530352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0" y="566928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585216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484632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630936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5394960"/>
            <a:ext cx="73152" cy="73152"/>
          </a:xfrm>
          <a:prstGeom prst="ellipse">
            <a:avLst/>
          </a:prstGeom>
          <a:solidFill>
            <a:srgbClr val="008891">
              <a:alpha val="60000"/>
            </a:srgbClr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950976"/>
            <a:ext cx="658368" cy="-310896"/>
          </a:xfrm>
          <a:prstGeom prst="line">
            <a:avLst/>
          </a:prstGeom>
          <a:noFill/>
          <a:ln w="6350">
            <a:solidFill>
              <a:srgbClr val="00889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640080"/>
            <a:ext cx="731520" cy="457200"/>
          </a:xfrm>
          <a:prstGeom prst="line">
            <a:avLst/>
          </a:prstGeom>
          <a:noFill/>
          <a:ln w="6350">
            <a:solidFill>
              <a:srgbClr val="00889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645920"/>
            <a:ext cx="1097280" cy="182880"/>
          </a:xfrm>
          <a:prstGeom prst="line">
            <a:avLst/>
          </a:prstGeom>
          <a:noFill/>
          <a:ln w="6350">
            <a:solidFill>
              <a:srgbClr val="00889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0" y="5303520"/>
            <a:ext cx="731520" cy="365760"/>
          </a:xfrm>
          <a:prstGeom prst="line">
            <a:avLst/>
          </a:prstGeom>
          <a:noFill/>
          <a:ln w="6350">
            <a:solidFill>
              <a:srgbClr val="00889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5852160"/>
            <a:ext cx="1005840" cy="-457200"/>
          </a:xfrm>
          <a:prstGeom prst="line">
            <a:avLst/>
          </a:prstGeom>
          <a:noFill/>
          <a:ln w="6350">
            <a:solidFill>
              <a:srgbClr val="00889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731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6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אלגוריתמים ברשתות  ·  פרויקט גמר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277295" y="1828800"/>
            <a:ext cx="164592" cy="164592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116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קריטיות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מרכזיות ועמידות ברשת התחבורה הציבורית בישראל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265615" y="3931920"/>
            <a:ext cx="2194560" cy="36576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605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מגישים: </a:t>
            </a:r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סטודנט/ית 1  ·  סטודנט/ית 2  ·  סטודנט/ית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מרצה: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ד״ר אבנר פריאל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Israel GTFS  ·  NetworkX  · 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מבוא ומוטיבציה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תחנה אחת יכולה לשבש רשת שלמה?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התחבורה הציבורית בישראל היא רשת תשתית קריטית. כשתחנה מרכזית מושבתת, הסיפור לא מסתיים בה — הוא מתפשט הלאה.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120640" cy="4572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30,466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פעילות מרכיבות רשת אחת מקושרת בקנה מידה ארצי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99.25% מהתחנות נמצאות ברכיב קשיר אחד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5778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0" y="1783080"/>
            <a:ext cx="91440" cy="118872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057400"/>
            <a:ext cx="640080" cy="64008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947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ביקוש לתעדוף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40880" y="23500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מתכננים צריכים לדעת אילו תחנות יקרוסו לפני אחרות בעת תקלה.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54680"/>
            <a:ext cx="55778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3154680"/>
            <a:ext cx="91440" cy="118872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429000"/>
            <a:ext cx="640080" cy="64008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319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עמוסה ≠ תחנה קריטית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37216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תדירות שירות גבוהה לא בהכרח מצביעה על חשיבות מבנית.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4526280"/>
            <a:ext cx="557784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21440" y="4526280"/>
            <a:ext cx="91440" cy="118872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800600"/>
            <a:ext cx="640080" cy="64008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4690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 גדולה, ניתוח מעשי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40880" y="5093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תחנות, 16M רשומות — דורש אלגוריתמים יעילים והערכות מקורבות.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5897880"/>
            <a:ext cx="5577840" cy="6400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58978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שאלת מחקר: אילו תחנות הן הקריטיות ביותר לקישוריות הרשת — וכיצד נמדוד אותן?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מחקר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מאיזה היבט נמדוד 'קריטיות'?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94415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09728" cy="118872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ש.מ. ראשית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תחנות הן הקריטיות ביותר ברשת התחבורה הציבורית בישראל, וכיצד ניתן למדוד את תרומתן לקישוריות ולעמידות הרשת?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55080" y="3246120"/>
            <a:ext cx="5285232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3474720"/>
            <a:ext cx="548640" cy="54864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6307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מרכזיות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402336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מובילה לפי מדדי מרכזיות שונים — degree, weighted degree, PageRank, betweenness?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285232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6632" y="3474720"/>
            <a:ext cx="548640" cy="54864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תפעולי מול מבני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מדדים מבוססי-תדירות מזהים את אותן תחנות כמו מדדים מבניים?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983480"/>
            <a:ext cx="5285232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63072" y="5212080"/>
            <a:ext cx="548640" cy="54864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63072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525780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עמידות הרשת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576072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 כמה הרשת עמידה להסרה מכוונת של תחנות לעומת הסרה אקראית?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285232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56632" y="5212080"/>
            <a:ext cx="548640" cy="54864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קהילות וסידור פנימי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576072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ניתן לזהות קהילות או תתי-רשתות משמעותיות בתוך הרשת הארצית?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629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 השאלות יחד יוצרות הגדרה רב-ממדית של 'תחנה קריטית'.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 הנתונים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ישראל — הרשת בפועל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37015" y="1783080"/>
            <a:ext cx="2606040" cy="11430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37015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30,466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37015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פעילות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3815" y="1783080"/>
            <a:ext cx="2606040" cy="11430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3815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420,133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93815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נסיעות מתוזמנות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0615" y="1783080"/>
            <a:ext cx="2606040" cy="11430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615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50615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רשומות stop_times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415" y="1783080"/>
            <a:ext cx="2606040" cy="11430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7,792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7415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קווי שירות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200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 GTFS עיקריים בשימוש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611880"/>
          <a:ext cx="5577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קובץ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רשומות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שימוש בפרויקט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תחנות וקואורדינטות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420,133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נסיעות לפי קו ושירות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stop_times.txt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15,711,624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סדר תחנות בכל נסיעה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קווים וסוגי שירות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calendar.txt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תקפות שירות 19/4–19/5/26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" name="Image 0" descr="figures/active_stops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0"/>
            <a:ext cx="5120640" cy="32918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6492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פריסת התחנות הפעילות בישראל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הגרף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הופכים לוחות זמנים לגרף?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828800"/>
            <a:ext cx="54864" cy="82296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828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צומת (Node)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21284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פעילה — תחנה שמופיעה לפחות פעם אחת ב-stop_times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788920"/>
            <a:ext cx="54864" cy="82296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788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קשת מכוונת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31729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→ v אם תחנה v מופיעה מיד אחרי תחנה u באותה נסיעה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749040"/>
            <a:ext cx="54864" cy="82296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7490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1330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הפעמים שמקטע התחנות מופיע בלוח הזמנים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4709160"/>
            <a:ext cx="54864" cy="82296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7091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גרף לא מכוון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509320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משמש לקשירות, נקודות חיתוך, גשרים, עמידות וקהילות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5852160"/>
            <a:ext cx="5532120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5852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דוגמה: </a:t>
            </a:r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המקטע </a:t>
            </a:r>
            <a:pPr algn="r" indent="0" marL="0">
              <a:buNone/>
            </a:pPr>
            <a:r>
              <a:rPr lang="en-US" sz="1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סמינר הקיבוצים ⇢ דרך נמיר/יהודה המכבי</a:t>
            </a:r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מופיע ב-</a:t>
            </a:r>
            <a:pPr algn="r" indent="0" marL="0">
              <a:buNone/>
            </a:pPr>
            <a:r>
              <a:rPr lang="en-US" sz="13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6,955</a:t>
            </a:r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נסיעות — זהו משקל הקשת.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מקטע מתוך נסיעה אחת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16836" y="3534156"/>
            <a:ext cx="978408" cy="-667512"/>
          </a:xfrm>
          <a:prstGeom prst="line">
            <a:avLst/>
          </a:prstGeom>
          <a:noFill/>
          <a:ln w="38100">
            <a:solidFill>
              <a:srgbClr val="00889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1488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w=412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71316" y="2866644"/>
            <a:ext cx="886968" cy="667512"/>
          </a:xfrm>
          <a:prstGeom prst="line">
            <a:avLst/>
          </a:prstGeom>
          <a:noFill/>
          <a:ln w="38100">
            <a:solidFill>
              <a:srgbClr val="00889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576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w=287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3246120"/>
            <a:ext cx="822960" cy="822960"/>
          </a:xfrm>
          <a:prstGeom prst="ellipse">
            <a:avLst/>
          </a:prstGeom>
          <a:solidFill>
            <a:srgbClr val="0F3057"/>
          </a:solidFill>
          <a:ln w="254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71800" y="2331720"/>
            <a:ext cx="822960" cy="822960"/>
          </a:xfrm>
          <a:prstGeom prst="ellipse">
            <a:avLst/>
          </a:prstGeom>
          <a:solidFill>
            <a:srgbClr val="0F3057"/>
          </a:solidFill>
          <a:ln w="25400">
            <a:solidFill>
              <a:srgbClr val="0F30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4688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3246120"/>
            <a:ext cx="822960" cy="822960"/>
          </a:xfrm>
          <a:prstGeom prst="ellipse">
            <a:avLst/>
          </a:prstGeom>
          <a:solidFill>
            <a:srgbClr val="0F3057"/>
          </a:solidFill>
          <a:ln w="25400">
            <a:solidFill>
              <a:srgbClr val="0F30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9319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5212080" cy="16916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029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הגרף שנבנה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394960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30,466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צמתים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62200" y="5394960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51,999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2362200" y="60350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קשתות מכוונות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84320" y="5394960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084320" y="60350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דרגה ממוצעת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שיטות ואלגוריתמים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חישבנו על הרשת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94015" y="1828800"/>
            <a:ext cx="3749040" cy="50292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94015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 מרכזיות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94015" y="246888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31175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/ Weighted Degree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31175" y="3017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כמות שכנים ותדירות שירות בכל תחנה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94015" y="3794760"/>
            <a:ext cx="3749040" cy="123444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1175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31175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חשיבות בגרף המכוון לפי קשרים נכנסים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94015" y="512064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1175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Betweenness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31175" y="5669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דגימת 128 מקורות לפי Brandes 2001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62095" y="1828800"/>
            <a:ext cx="3749040" cy="50292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2095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וקשירות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2095" y="246888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9255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99255" y="3017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הרכיב הקשיר הגדול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62095" y="3794760"/>
            <a:ext cx="3749040" cy="123444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9255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 Points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99255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שהסרתן מפצלת את הגרף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62095" y="512064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9255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99255" y="5669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קשתות שהסרתן מפצלת את הגרף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175" y="1828800"/>
            <a:ext cx="3749040" cy="5029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ניסויי הערכה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175" y="246888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7335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7335" y="3017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אופטימיזציית modularity לזיהוי קהילות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0175" y="3794760"/>
            <a:ext cx="3749040" cy="123444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335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Experiment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7335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500 תחנות לפי 4 אסטרטגיות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0175" y="5120640"/>
            <a:ext cx="3749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7335" y="5257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67335" y="5669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ניסויי הסרה אקראית להשוואה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583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Betweenness דוגם 128 מקורות בגלל גודל הרשת — exact betweenness לא מעשי על 30K צמתים.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מבנה הרשת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 אחת גדולה — אבל עם 900 צווארי בקבוק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783080"/>
            <a:ext cx="5257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מהתחנות ברכיב קשיר אחד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990088"/>
            <a:ext cx="5257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30358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92240" y="31272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נקודות חיתוך (articulation points)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4197096"/>
            <a:ext cx="5257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424281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92240" y="433425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גשרים (bridges)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5404104"/>
            <a:ext cx="5257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544982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92240" y="554126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קהילות שזיהה Louvain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התפלגות סוגי קווים</a:t>
            </a:r>
            <a:endParaRPr lang="en-US" sz="16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14884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303520" y="2514600"/>
            <a:ext cx="228600" cy="22860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אוטובוס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20440" y="2468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7,505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03520" y="2971800"/>
            <a:ext cx="228600" cy="22860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6240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רכבת כבדה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520440" y="29260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303520" y="3429000"/>
            <a:ext cx="228600" cy="22860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0624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רכבת קלה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520440" y="33832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303520" y="3886200"/>
            <a:ext cx="228600" cy="228600"/>
          </a:xfrm>
          <a:prstGeom prst="rect">
            <a:avLst/>
          </a:prstGeom>
          <a:solidFill>
            <a:srgbClr val="B8C5D1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0624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520440" y="3840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852160"/>
            <a:ext cx="5212080" cy="7772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58521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ממצא: למרות שהרשת כמעט קשירה לחלוטין, יש בה מאות צמתים שהסרתם מפצלת אותה.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תחנות קריטיות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תחנה עמוסה ≠ תחנה קריטית מבנית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783080"/>
            <a:ext cx="5257800" cy="45720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— Weighted Degree (תדירות שירות)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86000"/>
          <a:ext cx="5257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468880"/>
                <a:gridCol w="118872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שם תחנה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קניון עזריאלי/דרך מנחם בגין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גשר המיתרים/שד׳ הרצל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צומת רמות/גולדה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דרך נמיר/יהודה המכבי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8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סמינר הקיבוצים/דרך נמיר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1783080"/>
            <a:ext cx="5257800" cy="45720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— Approx. Betweenness (חשיבות מבנית)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257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468880"/>
                <a:gridCol w="118872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שם תחנה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30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ת.התרעננות/דור אלון מגל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מחלף קמה לצפון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מחלף חמד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דרך האר״י/כביש 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שדרות בית הלל/כניסה לעיר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754880"/>
            <a:ext cx="11094415" cy="17830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533327" y="4754880"/>
            <a:ext cx="109728" cy="1783080"/>
          </a:xfrm>
          <a:prstGeom prst="rect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4846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ממצא מרכזי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ה-Spearman correlation בין weighted degree ל-betweenness הוא רק </a:t>
            </a:r>
            <a:pPr algn="r" indent="0" marL="0">
              <a:buNone/>
            </a:pPr>
            <a:r>
              <a:rPr lang="en-US" sz="22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7150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שירות וקריטיות מבנית הם שני מימדים נפרדים. רוב התחנות העמוסות אינן צווארי בקבוק — ורוב צווארי הבקבוק לא נראים בלוח הזמנים.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עמידות הרשת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כשמסירים תחנות?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4455" y="137160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לאחר הסרת 500 תחנות: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2286000"/>
            <a:ext cx="3931920" cy="640080"/>
          </a:xfrm>
          <a:prstGeom prst="rect">
            <a:avLst/>
          </a:prstGeom>
          <a:solidFill>
            <a:srgbClr val="FBE3D3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 Degree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2999232"/>
            <a:ext cx="3931920" cy="6400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29992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96.36%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0" y="2999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3712464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371246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96.89%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0" y="37124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4425696"/>
            <a:ext cx="3931920" cy="64008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44256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97.24%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144000" y="442569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80960" y="5138928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513892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97.32%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144000" y="5138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(mean)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126480"/>
            <a:ext cx="11094415" cy="5029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612648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הסרה לפי נקודות חיתוך פוגעת בקישוריות פי 2.9 לעומת הסרה אקראית — אך הרשת עדיין שורדת מעל 93%.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מסקנות, מגבלות ועבודה עתידית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11535" y="320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008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הפרויקט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414455" y="1234440"/>
            <a:ext cx="137160" cy="137160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 מרכזיות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66837" y="2011680"/>
            <a:ext cx="3576218" cy="2286000"/>
          </a:xfrm>
          <a:prstGeom prst="rect">
            <a:avLst/>
          </a:prstGeom>
          <a:solidFill>
            <a:srgbClr val="0F3057"/>
          </a:solidFill>
          <a:ln w="6350">
            <a:solidFill>
              <a:srgbClr val="0088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49717" y="21031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49717" y="27889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הגדרה אחת ל'תחנה קריטית'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49717" y="342900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עמוסות, תחנות גישור ותחנות אזוריות — שלוש קטגוריות נפרדות שדורשות מדדים שונים.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7738" y="2011680"/>
            <a:ext cx="3576218" cy="2286000"/>
          </a:xfrm>
          <a:prstGeom prst="rect">
            <a:avLst/>
          </a:prstGeom>
          <a:solidFill>
            <a:srgbClr val="0F3057"/>
          </a:solidFill>
          <a:ln w="6350">
            <a:solidFill>
              <a:srgbClr val="0088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0618" y="21031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490618" y="27889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חכם משלב מדדים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0618" y="342900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שמופיעות גבוה בכמה מדדים (כמו גשר המיתרים ומחלף חמד) הן בעדיפות עליונה לאמינות.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3576218" cy="2286000"/>
          </a:xfrm>
          <a:prstGeom prst="rect">
            <a:avLst/>
          </a:prstGeom>
          <a:solidFill>
            <a:srgbClr val="0F3057"/>
          </a:solidFill>
          <a:ln w="6350">
            <a:solidFill>
              <a:srgbClr val="0088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031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הרשת עמידה — אך לא חסינה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אפילו אחרי הסרת 500 תחנות הרשת שומרת על 93%+ קישוריות, אך הסרה ממוקדת פוגעת משמעותית.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מגבלות עיקריות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277295" y="4983480"/>
            <a:ext cx="164592" cy="164592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2321" y="493776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 לוח זמנים בלבד — ללא נתוני נוסעים בפועל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69401" y="4983480"/>
            <a:ext cx="164592" cy="164592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4428" y="493776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מקורב (128 מקורות) בגלל גודל הרשת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1508" y="4983480"/>
            <a:ext cx="164592" cy="164592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6534" y="493776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תחנות קרובות פיזית לא אוחדו לתחנת-על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53614" y="4983480"/>
            <a:ext cx="164592" cy="164592"/>
          </a:xfrm>
          <a:prstGeom prst="ellipse">
            <a:avLst/>
          </a:prstGeom>
          <a:solidFill>
            <a:srgbClr val="E97A47"/>
          </a:solidFill>
          <a:ln w="12700">
            <a:solidFill>
              <a:srgbClr val="E97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37760"/>
            <a:ext cx="21678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שקלול זמני הליכה, המתנה והחלפות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BF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עתידית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איחוד תחנות קרובות לתחנת-על  ·  שקלול קשתות לפי shapes.txt  ·  גרף העברות בין קווים  ·  שילוב נתוני ביקוש  ·  תרחישי השבתה ריאליים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9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תחנות קריטיות ברשת התחבורה הציבורית בישראל</dc:title>
  <dc:subject>PptxGenJS Presentation</dc:subject>
  <dc:creator>Course: Algorithms in Networks</dc:creator>
  <cp:lastModifiedBy>Course: Algorithms in Networks</cp:lastModifiedBy>
  <cp:revision>1</cp:revision>
  <dcterms:created xsi:type="dcterms:W3CDTF">2026-05-28T04:34:29Z</dcterms:created>
  <dcterms:modified xsi:type="dcterms:W3CDTF">2026-05-28T04:34:29Z</dcterms:modified>
</cp:coreProperties>
</file>